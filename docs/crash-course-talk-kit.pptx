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fa169d5b1a40cf" /><Relationship Type="http://schemas.openxmlformats.org/officeDocument/2006/relationships/extended-properties" Target="/docProps/app.xml" Id="R8b7383b87b4c4dca" /><Relationship Type="http://schemas.openxmlformats.org/officeDocument/2006/relationships/officeDocument" Target="/ppt/presentation.xml" Id="Rfb557db9922441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ff20a930934614"/>
  </p:sldMasterIdLst>
  <p:notesMasterIdLst>
    <p:notesMasterId xmlns:r="http://schemas.openxmlformats.org/officeDocument/2006/relationships" r:id="R001f14ac2cf64ec3"/>
  </p:notesMasterIdLst>
  <p:sldIdLst>
    <p:sldId xmlns:r="http://schemas.openxmlformats.org/officeDocument/2006/relationships" id="256" r:id="R8e654e1659b7443a"/>
    <p:sldId xmlns:r="http://schemas.openxmlformats.org/officeDocument/2006/relationships" id="257" r:id="R8b2ea3f34ee0491a"/>
    <p:sldId xmlns:r="http://schemas.openxmlformats.org/officeDocument/2006/relationships" id="258" r:id="R9f52a9cb1d744973"/>
    <p:sldId xmlns:r="http://schemas.openxmlformats.org/officeDocument/2006/relationships" id="259" r:id="Re223ba03ff02463b"/>
    <p:sldId xmlns:r="http://schemas.openxmlformats.org/officeDocument/2006/relationships" id="260" r:id="Re9aa25ad3a3c44b9"/>
    <p:sldId xmlns:r="http://schemas.openxmlformats.org/officeDocument/2006/relationships" id="261" r:id="R53ab1e0bfef444b9"/>
    <p:sldId xmlns:r="http://schemas.openxmlformats.org/officeDocument/2006/relationships" id="262" r:id="R3f0777c151f947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b57a2345eb4f59" /><Relationship Type="http://schemas.openxmlformats.org/officeDocument/2006/relationships/slideMaster" Target="/ppt/slideMasters/slideMaster1.xml" Id="R76ff20a930934614" /><Relationship Type="http://schemas.openxmlformats.org/officeDocument/2006/relationships/notesMaster" Target="/ppt/notesMasters/notesMaster1.xml" Id="R001f14ac2cf64ec3" /><Relationship Type="http://schemas.openxmlformats.org/officeDocument/2006/relationships/presProps" Target="/ppt/presProps.xml" Id="R5959459763984696" /><Relationship Type="http://schemas.openxmlformats.org/officeDocument/2006/relationships/tableStyles" Target="/ppt/tableStyles.xml" Id="R50727193e105499c" /><Relationship Type="http://schemas.openxmlformats.org/officeDocument/2006/relationships/slide" Target="/ppt/slides/slide1.xml" Id="R8e654e1659b7443a" /><Relationship Type="http://schemas.openxmlformats.org/officeDocument/2006/relationships/slide" Target="/ppt/slides/slide2.xml" Id="R8b2ea3f34ee0491a" /><Relationship Type="http://schemas.openxmlformats.org/officeDocument/2006/relationships/slide" Target="/ppt/slides/slide3.xml" Id="R9f52a9cb1d744973" /><Relationship Type="http://schemas.openxmlformats.org/officeDocument/2006/relationships/slide" Target="/ppt/slides/slide4.xml" Id="Re223ba03ff02463b" /><Relationship Type="http://schemas.openxmlformats.org/officeDocument/2006/relationships/slide" Target="/ppt/slides/slide5.xml" Id="Re9aa25ad3a3c44b9" /><Relationship Type="http://schemas.openxmlformats.org/officeDocument/2006/relationships/slide" Target="/ppt/slides/slide6.xml" Id="R53ab1e0bfef444b9" /><Relationship Type="http://schemas.openxmlformats.org/officeDocument/2006/relationships/slide" Target="/ppt/slides/slide7.xml" Id="R3f0777c151f9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77ac4fd1549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e855adbec4b0f" /><Relationship Type="http://schemas.openxmlformats.org/officeDocument/2006/relationships/notesMaster" Target="/ppt/notesMasters/notesMaster1.xml" Id="R246546d5dd8e4e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5a06f33d94954" /><Relationship Type="http://schemas.openxmlformats.org/officeDocument/2006/relationships/notesMaster" Target="/ppt/notesMasters/notesMaster1.xml" Id="R59cd8f458b8b45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622def2bb440c" /><Relationship Type="http://schemas.openxmlformats.org/officeDocument/2006/relationships/notesMaster" Target="/ppt/notesMasters/notesMaster1.xml" Id="Rfc9042c38eba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b95c2e750a40c9" /><Relationship Type="http://schemas.openxmlformats.org/officeDocument/2006/relationships/notesMaster" Target="/ppt/notesMasters/notesMaster1.xml" Id="R7c7c5f08a484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0de9d1e9fc4ccb" /><Relationship Type="http://schemas.openxmlformats.org/officeDocument/2006/relationships/notesMaster" Target="/ppt/notesMasters/notesMaster1.xml" Id="R5f8356823128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630d6070b54fa5" /><Relationship Type="http://schemas.openxmlformats.org/officeDocument/2006/relationships/notesMaster" Target="/ppt/notesMasters/notesMaster1.xml" Id="R11d4548c508049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b136e563524812" /><Relationship Type="http://schemas.openxmlformats.org/officeDocument/2006/relationships/notesMaster" Target="/ppt/notesMasters/notesMaster1.xml" Id="Rda39997bf7f2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tension: failure demos are easy to stage, but difficult to trust. Crash Course treats the database as the vehicle and replayable evidence as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sans-IO boundary. The simulator does not imitate a separate toy database; it drives the same cluster composition. Real mode and WASM expose different host risks without forking the core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debugging loop is the methodological center. A candidate shrink only survives when re-execution still fails; a flaky reproduction is a determinism bug, not a successful reduction.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docs/sim.md</a:t>
            </a:r>
          </a:p>
          <a:p xmlns:a="http://schemas.openxmlformats.org/drawingml/2006/main">
            <a:r>
              <a:t>- crates/cc-swarm/src/lib.rs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bounded exploration a proof of unbounded Raft. Read the bounds printed in every report. Mutation testing then asks the reverse question: would the suite catch a deliberately weakened operator?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crates/cc-raft/src/model.rs</a:t>
            </a:r>
          </a:p>
          <a:p xmlns:a="http://schemas.openxmlformats.org/drawingml/2006/main">
            <a:r>
              <a:t>- crates/cc-swarm/src/lib.rs</a:t>
            </a:r>
          </a:p>
          <a:p xmlns:a="http://schemas.openxmlformats.org/drawingml/2006/main">
            <a:r>
              <a:t>- docs/LIMITATIONS.md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scripts/demo.sh. Keep the theater open as the visual lane: Play, note leader ID, Kill leader, then Run twice. The matching trace hash is the bridge from spectacle to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scripts/demo.sh</a:t>
            </a:r>
          </a:p>
          <a:p xmlns:a="http://schemas.openxmlformats.org/drawingml/2006/main">
            <a:r>
              <a:t>- theater/src/main.tsx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surfaces remain lab tools. Backups currently archive the durable command journal—not SSTables—and the real listener still has no production security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docs/ops.md</a:t>
            </a:r>
          </a:p>
          <a:p xmlns:a="http://schemas.openxmlformats.org/drawingml/2006/main">
            <a:r>
              <a:t>- docs/formats.md</a:t>
            </a:r>
          </a:p>
          <a:p xmlns:a="http://schemas.openxmlformats.org/drawingml/2006/main">
            <a:r>
              <a:t>- docs/LIMITATIONS.md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opening tension. The goal is not to look unbreakable; it is to make every break reproducible and every guarantee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docs/consistency.md</a:t>
            </a:r>
          </a:p>
          <a:p xmlns:a="http://schemas.openxmlformats.org/drawingml/2006/main">
            <a:r>
              <a:t>- docs/LIMITATIONS.md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1964972ff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68846658894d99" /><Relationship Type="http://schemas.openxmlformats.org/officeDocument/2006/relationships/slideLayout" Target="/ppt/slideLayouts/slideLayout1.xml" Id="R76405682783a49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405682783a49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639b601d34476" /><Relationship Type="http://schemas.openxmlformats.org/officeDocument/2006/relationships/notesSlide" Target="/ppt/notesSlides/notesSlide1.xml" Id="R77d6a7c86b3c46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5b940dd04275" /><Relationship Type="http://schemas.openxmlformats.org/officeDocument/2006/relationships/notesSlide" Target="/ppt/notesSlides/notesSlide2.xml" Id="R1ff65ae84c8f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341dbe4434a24" /><Relationship Type="http://schemas.openxmlformats.org/officeDocument/2006/relationships/notesSlide" Target="/ppt/notesSlides/notesSlide3.xml" Id="Rc330e12a478f43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8dc50ed174fea" /><Relationship Type="http://schemas.openxmlformats.org/officeDocument/2006/relationships/notesSlide" Target="/ppt/notesSlides/notesSlide4.xml" Id="Ra07771c5a62a44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1805526fa49e3" /><Relationship Type="http://schemas.openxmlformats.org/officeDocument/2006/relationships/notesSlide" Target="/ppt/notesSlides/notesSlide5.xml" Id="Rc68a993ce34c4d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24253eb284615" /><Relationship Type="http://schemas.openxmlformats.org/officeDocument/2006/relationships/notesSlide" Target="/ppt/notesSlides/notesSlide6.xml" Id="Ra906087194f04a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e4d0dcce46fe" /><Relationship Type="http://schemas.openxmlformats.org/officeDocument/2006/relationships/notesSlide" Target="/ppt/notesSlides/notesSlide7.xml" Id="Rfe5b53f312ce4f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0E63E99-96E6-4FF9-BD1F-D2261140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Break the cluster.
Keep the evidence.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7217F03-0C68-4188-8735-33454D3E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deterministic distributed-database laboratory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06790E1-9ADE-4D57-B65B-1C5CC34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CRASH COURSE</a:t>
            </a:r>
          </a:p>
        </p:txBody>
      </p:sp>
    </p:spTree>
    <p:extLst>
      <p:ext uri="{BB962C8B-B14F-4D97-AF65-F5344CB8AC3E}">
        <p14:creationId xmlns:p14="http://schemas.microsoft.com/office/powerpoint/2010/main" val="10093537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4F052D9-192B-4132-A485-6A72D916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C14B476-1A23-4AC5-95F5-14E9594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state machine, three places to challenge it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7B42EAF-6DDE-4ADD-808B-70EC4F7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Virtual time, typed fault plans, produced client histories, invariant checks, and shrinking.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ED93281-766E-4DC4-8682-FEF8E64C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HOST + BROWSER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TCP processes test kernel integration. The same core compiled to WASM makes every fault clickable.</a:t>
            </a:r>
          </a:p>
        </p:txBody>
      </p:sp>
    </p:spTree>
    <p:extLst>
      <p:ext uri="{BB962C8B-B14F-4D97-AF65-F5344CB8AC3E}">
        <p14:creationId xmlns:p14="http://schemas.microsoft.com/office/powerpoint/2010/main" val="14879159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9151494-70DB-4000-B710-4FA19D2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DDC0202-277A-459E-88FD-44D839E4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Determinism turns a failure into a workflow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9DA26EB-038A-4D45-8F3F-A17AB45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ABE8E79-75A6-40FA-A879-E0DA4BE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B7B7BB6-A855-4CF1-B04E-8E5A2B39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91AA298-AF14-4792-B64B-EEFA89D4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EC530E9-12BD-4CB4-BE68-BF73D8E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REDUCE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2913D49-728A-43D3-828C-7BCDF077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48B6BB8-6B82-4F43-BA90-493B37A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oracle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Re-execute while deleting time, actions, and workload.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DB3C0BF-2C94-4580-9088-52D4CE4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RunSpec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Seed, workload, topology, and faults are ordinary data.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37C9216-CAE8-41CB-BD72-9115514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bytes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Double-run traces; explain the first semantic divergence.</a:t>
            </a:r>
          </a:p>
        </p:txBody>
      </p:sp>
    </p:spTree>
    <p:extLst>
      <p:ext uri="{BB962C8B-B14F-4D97-AF65-F5344CB8AC3E}">
        <p14:creationId xmlns:p14="http://schemas.microsoft.com/office/powerpoint/2010/main" val="8181779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F902C26-C150-4D3E-9B03-D2EDFE4A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31D454F2-2404-41A3-AED2-C8BC0CDE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7FB197B-932C-4B1F-B347-7426EF88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0D904BF-B597-4A7E-8ED2-00247B3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45FEB21-FD05-4FFE-BB07-4EFDD5DE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now attacks the harness, too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AAF410E-116F-4D5F-9B3C-BEC07B3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071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exhaustive Raft state-space explorer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56F75CC-D2F6-42B1-BE4D-352989B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23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Rare-state reachability reported, never assumed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CCD8256-8C55-4606-912B-BA3F12F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803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Coverage-guided typed fault-plan search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8B4479F-3353-458F-A1EF-A885EEB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nodes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5424AA3-B68B-4F64-BABF-A5A88B2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1–3 grams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A53609F-C6A2-4C9E-B515-168FC905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 beacons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E13D063-4636-4A9E-A5D5-B91FD20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NEW EVIDENCE SURFACES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Random campaigns remain useful, but they no longer carry the whole credibility burden.</a:t>
            </a:r>
          </a:p>
        </p:txBody>
      </p:sp>
    </p:spTree>
    <p:extLst>
      <p:ext uri="{BB962C8B-B14F-4D97-AF65-F5344CB8AC3E}">
        <p14:creationId xmlns:p14="http://schemas.microsoft.com/office/powerpoint/2010/main" val="5757904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9DD7210-130D-4510-B04A-65B03AEA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C551135-EF84-4EAE-813E-8CC8AEF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live proof has three observable promises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C0E1DBA-AAAD-4969-9592-CCD593F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ELECT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three processes and identify the current leader.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7B75CE4-2887-4BD1-9890-827D8B50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42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RECONCILE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acknowledgements to the durable counter, then restart and catch up.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E6DB7E4-E203-42C1-8E29-D73631D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KILL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Terminate that leader; the client follows a new one within the bound.</a:t>
            </a:r>
          </a:p>
        </p:txBody>
      </p:sp>
    </p:spTree>
    <p:extLst>
      <p:ext uri="{BB962C8B-B14F-4D97-AF65-F5344CB8AC3E}">
        <p14:creationId xmlns:p14="http://schemas.microsoft.com/office/powerpoint/2010/main" val="14377227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AD7829B-B8B6-4C53-BF6E-9C4A11E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E40404-9954-4A1B-8935-40B2D6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lab is becoming useful outside the happy path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0D7DE29-7745-4452-929F-E3AD2038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 OPERATORS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Deep self-check, environment doctor, offline backup/restore, Prometheus endpoint, Rust proxy, and a Compose lab.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F4EBA55-1D49-421A-A34C-B44CF5D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 EXPLAINERS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Guided lessons, embeddable theater, standalone sequence SVG, claim-to-test receipts, and this talk kit.</a:t>
            </a:r>
          </a:p>
        </p:txBody>
      </p:sp>
    </p:spTree>
    <p:extLst>
      <p:ext uri="{BB962C8B-B14F-4D97-AF65-F5344CB8AC3E}">
        <p14:creationId xmlns:p14="http://schemas.microsoft.com/office/powerpoint/2010/main" val="18876462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110D319-3BD2-461A-9CEF-7AA5F55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guarantee is only as good
as its receipt.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1FC0798-B130-4706-9C83-2E4615F1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Break it live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 it exactly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the boundary honest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CB67187-4643-4C06-9966-FA380C65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TAKEAWAY</a:t>
            </a:r>
          </a:p>
        </p:txBody>
      </p:sp>
    </p:spTree>
    <p:extLst>
      <p:ext uri="{BB962C8B-B14F-4D97-AF65-F5344CB8AC3E}">
        <p14:creationId xmlns:p14="http://schemas.microsoft.com/office/powerpoint/2010/main" val="1053419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2026-08-10T05:09:10.6220000Z</dcterms:created>
  <dcterms:modified xsi:type="dcterms:W3CDTF">2026-08-10T05:09:10.6220000Z</dcterms:modified>
</coreProperties>
</file>